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4630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Website Quản Lý Sinh Viên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· JSP · Servlet · JDBC · MySQL  —  Mô hình MVC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Giảng viên hướng dẫn: TS. Lê Duy Tân	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Trang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Tên đề tài &amp; Thành viên nhóm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065A82"/>
          </a:solidFill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TÊN ĐỀ TÀI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Xây dựng Website Quản lý Sinh viên bằng Java Web (JSP/Servlet/JDBC)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173736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THÀNH VIÊN NHÓM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263640" y="2103120"/>
          <a:ext cx="5394960" cy="313639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Họ và tên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MSSV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Vai trò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Hồ </a:t>
                      </a:r>
                      <a:r>
                        <a:rPr lang="" alt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Đă</a:t>
                      </a:r>
                      <a:r>
                        <a:rPr lang="en-US" alt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 Khoa</a:t>
                      </a: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…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2305CT0517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Trưởng nhóm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 Duy Nhân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2305CT0598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alt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 Hoài Khiêm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2305CT0660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alt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Chống A Bối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2305CT6473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alt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Trần </a:t>
                      </a:r>
                      <a:r>
                        <a:rPr lang="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</a:t>
                      </a: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ức D</a:t>
                      </a:r>
                      <a:r>
                        <a:rPr lang="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ư</a:t>
                      </a: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ơng	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2305CT2042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alt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ũ </a:t>
                      </a: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Viết </a:t>
                      </a:r>
                      <a:r>
                        <a:rPr lang="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</a:t>
                      </a: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ạt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2305CT8292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alt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2103120"/>
            <a:ext cx="5394960" cy="448056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0" name="Text 7"/>
          <p:cNvSpPr/>
          <p:nvPr/>
        </p:nvSpPr>
        <p:spPr>
          <a:xfrm>
            <a:off x="6263640" y="2103120"/>
            <a:ext cx="64008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03720" y="2103120"/>
            <a:ext cx="22860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Họ và tên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89720" y="2103120"/>
            <a:ext cx="137160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MSSV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61320" y="2103120"/>
            <a:ext cx="1097280" cy="4480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 trò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508760" y="425196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08760" y="4572000"/>
            <a:ext cx="42062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Lý do chọn đề tài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97780" cy="2148840"/>
          </a:xfrm>
          <a:prstGeom prst="roundRect">
            <a:avLst>
              <a:gd name="adj" fmla="val 4255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39090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Nhu cầu thực tế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4577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Việc quản lý thông tin sinh viên (mã số, lớp, chuyên ngành, học phí) bằng giấy tờ hoặc Excel còn thủ công, dễ sai sót và khó tra cứu.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66460" y="1783080"/>
            <a:ext cx="5097780" cy="2148840"/>
          </a:xfrm>
          <a:prstGeom prst="roundRect">
            <a:avLst>
              <a:gd name="adj" fmla="val 4255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0780" y="2057400"/>
            <a:ext cx="502920" cy="5029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624078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26580" y="2039112"/>
            <a:ext cx="39090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Vận dụng kiến thức Java Web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86500" y="2651760"/>
            <a:ext cx="44577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Đề tài là cơ hội thực hành trọn vẹn mô hình MVC với JSP, Servlet và JDBC đã học trong môn Lập trình Web Java.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097780" cy="2148840"/>
          </a:xfrm>
          <a:prstGeom prst="roundRect">
            <a:avLst>
              <a:gd name="adj" fmla="val 4255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507992"/>
            <a:ext cx="39090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quyền người dùng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44577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Bài toán có hai vai trò rõ ràng (Giảng viên và Sinh viên), phù hợp để rèn luyện kỹ năng xây dựng hệ thống đăng nhập, phân quyền.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66460" y="4251960"/>
            <a:ext cx="5097780" cy="2148840"/>
          </a:xfrm>
          <a:prstGeom prst="roundRect">
            <a:avLst>
              <a:gd name="adj" fmla="val 4255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0780" y="4526280"/>
            <a:ext cx="502920" cy="5029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1" name="Text 19"/>
          <p:cNvSpPr/>
          <p:nvPr/>
        </p:nvSpPr>
        <p:spPr>
          <a:xfrm>
            <a:off x="6240780" y="4526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26580" y="4507992"/>
            <a:ext cx="39090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Khả năng mở rộng cao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86500" y="5120640"/>
            <a:ext cx="44577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Cấu trúc CSDL và mã nguồn tách lớp rõ ràng (DAO – Model – Controller) dễ dàng nâng cấp thêm chức năng trong tương lai.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Mục tiêu website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hướng tới xây dựng một hệ thống quản lý sinh viên gọn nhẹ, đúng chuẩn kiến trúc MVC.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30552"/>
            <a:ext cx="8961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chức năng đăng nhập, phân quyền theo 2 vai trò: Giảng viên và Sinh viên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907792"/>
            <a:ext cx="8961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toàn diện thông tin sinh viên: thêm, sửa, xóa, xem danh sách (CRUD)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685032"/>
            <a:ext cx="8961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 phép lọc danh sách sinh viên theo chuyên ngành để tra cứu nhanh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6" name="Text 14"/>
          <p:cNvSpPr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462272"/>
            <a:ext cx="8961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Bảo mật mật khẩu người dùng bằng thuật toán băm SHA-256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411480" cy="4114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9" name="Text 17"/>
          <p:cNvSpPr/>
          <p:nvPr/>
        </p:nvSpPr>
        <p:spPr>
          <a:xfrm>
            <a:off x="548640" y="525780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239512"/>
            <a:ext cx="8961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Tổ chức mã nguồn theo mô hình MVC (Model – View – Controller) rõ ràng, dễ bảo trì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6136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764792"/>
            <a:ext cx="280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JSP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280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Server Pages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96312"/>
            <a:ext cx="28041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giao diện (View): login.jsp, student-list.jsp, student-form.jsp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75760" y="1600200"/>
            <a:ext cx="326136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</p:spPr>
      </p:sp>
      <p:sp>
        <p:nvSpPr>
          <p:cNvPr id="9" name="Text 7"/>
          <p:cNvSpPr/>
          <p:nvPr/>
        </p:nvSpPr>
        <p:spPr>
          <a:xfrm>
            <a:off x="4404360" y="1764792"/>
            <a:ext cx="280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Servlet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04360" y="2167128"/>
            <a:ext cx="280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Servlet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04360" y="2496312"/>
            <a:ext cx="28041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Đóng vai trò Controller: LoginServlet, StudentServlet, LogoutServlet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02880" y="1600200"/>
            <a:ext cx="326136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</p:spPr>
      </p:sp>
      <p:sp>
        <p:nvSpPr>
          <p:cNvPr id="13" name="Text 11"/>
          <p:cNvSpPr/>
          <p:nvPr/>
        </p:nvSpPr>
        <p:spPr>
          <a:xfrm>
            <a:off x="8031480" y="1764792"/>
            <a:ext cx="280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JDBC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31480" y="2167128"/>
            <a:ext cx="280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Database Connectivity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31480" y="2496312"/>
            <a:ext cx="28041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nối và thao tác CSDL qua lớp DBConnection &amp; StudentDAO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26136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</p:spPr>
      </p:sp>
      <p:sp>
        <p:nvSpPr>
          <p:cNvPr id="17" name="Text 15"/>
          <p:cNvSpPr/>
          <p:nvPr/>
        </p:nvSpPr>
        <p:spPr>
          <a:xfrm>
            <a:off x="777240" y="3867912"/>
            <a:ext cx="280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MySQL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270248"/>
            <a:ext cx="280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quản trị CSDL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599432"/>
            <a:ext cx="28041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Lưu trữ dữ liệu 2 bảng: students, teachers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75760" y="3703320"/>
            <a:ext cx="326136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</p:spPr>
      </p:sp>
      <p:sp>
        <p:nvSpPr>
          <p:cNvPr id="21" name="Text 19"/>
          <p:cNvSpPr/>
          <p:nvPr/>
        </p:nvSpPr>
        <p:spPr>
          <a:xfrm>
            <a:off x="4404360" y="3867912"/>
            <a:ext cx="280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Maven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04360" y="4270248"/>
            <a:ext cx="280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build &amp; thư viện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04360" y="4599432"/>
            <a:ext cx="28041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Cấu hình dependencies trong pom.xml, đóng gói WAR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02880" y="3703320"/>
            <a:ext cx="326136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</p:spPr>
      </p:sp>
      <p:sp>
        <p:nvSpPr>
          <p:cNvPr id="25" name="Text 23"/>
          <p:cNvSpPr/>
          <p:nvPr/>
        </p:nvSpPr>
        <p:spPr>
          <a:xfrm>
            <a:off x="8031480" y="3867912"/>
            <a:ext cx="280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SHA-256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031480" y="4270248"/>
            <a:ext cx="280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Bảo mật mật khẩu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31480" y="4599432"/>
            <a:ext cx="28041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Băm mật khẩu qua lớp HashUtil trước khi lưu/so khớp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Chức năng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Đăng nhập &amp; Phân quyền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429768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Đăng nhập chung 1 cổng cho Giảng viên và Sinh viên (LoginServlet)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227832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227832"/>
            <a:ext cx="429768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thống tự dò tài khoản trong bảng teachers trước, sau đó students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849624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849624"/>
            <a:ext cx="429768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Mật khẩu được băm SHA-256 trước khi so khớp với CSDL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471416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471416"/>
            <a:ext cx="429768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Lưu vai trò (role) và lớp quản lý vào Session sau khi đăng nhập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5093208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5093208"/>
            <a:ext cx="429768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Đăng xuất hủy Session và quay về trang đăng nhập (LogoutServlet)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691640"/>
            <a:ext cx="5806440" cy="411480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96596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0" name="Text 18"/>
          <p:cNvSpPr/>
          <p:nvPr/>
        </p:nvSpPr>
        <p:spPr>
          <a:xfrm>
            <a:off x="617220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1993392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Sinh viên (CRUD)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606040"/>
            <a:ext cx="50292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Xem danh sách toàn bộ sinh viên (StudentServlet – action mặc định)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15468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154680"/>
            <a:ext cx="50292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Thêm mới sinh viên, tự động gán vào lớp đang quản lý (/new, /insert)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7033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703320"/>
            <a:ext cx="50292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Sửa thông tin sinh viên theo ID (/edit, /update)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425196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251960"/>
            <a:ext cx="50292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Xóa sinh viên khỏi hệ thống, có xác nhận trước khi xóa (/delete)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8006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800600"/>
            <a:ext cx="50292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Lọc danh sách sinh viên theo chuyên ngành (CNTT, QTKD, HTTT)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534924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5349240"/>
            <a:ext cx="50292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Kiểm tra trùng MSSV/Email, cảnh báo lỗi khi thêm/sửa trùng dữ liệu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Thiết kế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CSDL: student_management  —  gồm 2 bảng chính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394960" cy="50292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7" name="Text 5"/>
          <p:cNvSpPr/>
          <p:nvPr/>
        </p:nvSpPr>
        <p:spPr>
          <a:xfrm>
            <a:off x="777240" y="1874520"/>
            <a:ext cx="4937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25146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 (PK, AUTO_INCREMENT)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843784"/>
            <a:ext cx="5303520" cy="347472"/>
          </a:xfrm>
          <a:prstGeom prst="rect">
            <a:avLst/>
          </a:prstGeom>
          <a:solidFill>
            <a:srgbClr val="F4F8FA"/>
          </a:solidFill>
        </p:spPr>
      </p:sp>
      <p:sp>
        <p:nvSpPr>
          <p:cNvPr id="11" name="Text 9"/>
          <p:cNvSpPr/>
          <p:nvPr/>
        </p:nvSpPr>
        <p:spPr>
          <a:xfrm>
            <a:off x="777240" y="286207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student_code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286207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VARCHAR(20) UNIQUE — MSSV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20954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14600" y="320954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VARCHAR(100)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538728"/>
            <a:ext cx="5303520" cy="347472"/>
          </a:xfrm>
          <a:prstGeom prst="rect">
            <a:avLst/>
          </a:prstGeom>
          <a:solidFill>
            <a:srgbClr val="F4F8FA"/>
          </a:solidFill>
        </p:spPr>
      </p:sp>
      <p:sp>
        <p:nvSpPr>
          <p:cNvPr id="16" name="Text 14"/>
          <p:cNvSpPr/>
          <p:nvPr/>
        </p:nvSpPr>
        <p:spPr>
          <a:xfrm>
            <a:off x="777240" y="3557016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email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14600" y="355701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VARCHAR(100) UNIQUE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0448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14600" y="3904488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— ngày sinh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233672"/>
            <a:ext cx="5303520" cy="347472"/>
          </a:xfrm>
          <a:prstGeom prst="rect">
            <a:avLst/>
          </a:prstGeom>
          <a:solidFill>
            <a:srgbClr val="F4F8FA"/>
          </a:solidFill>
        </p:spPr>
      </p:sp>
      <p:sp>
        <p:nvSpPr>
          <p:cNvPr id="21" name="Text 19"/>
          <p:cNvSpPr/>
          <p:nvPr/>
        </p:nvSpPr>
        <p:spPr>
          <a:xfrm>
            <a:off x="777240" y="425196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major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14600" y="4251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VARCHAR(100) — chuyên ngành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59943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class_name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14600" y="459943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VARCHAR(50) — lớp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928616"/>
            <a:ext cx="5303520" cy="347472"/>
          </a:xfrm>
          <a:prstGeom prst="rect">
            <a:avLst/>
          </a:prstGeom>
          <a:solidFill>
            <a:srgbClr val="F4F8FA"/>
          </a:solidFill>
        </p:spPr>
      </p:sp>
      <p:sp>
        <p:nvSpPr>
          <p:cNvPr id="26" name="Text 24"/>
          <p:cNvSpPr/>
          <p:nvPr/>
        </p:nvSpPr>
        <p:spPr>
          <a:xfrm>
            <a:off x="777240" y="494690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14600" y="494690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— học phí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294376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password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14600" y="529437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 — SHA-256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18745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874520"/>
            <a:ext cx="5394960" cy="5029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2" name="Text 30"/>
          <p:cNvSpPr/>
          <p:nvPr/>
        </p:nvSpPr>
        <p:spPr>
          <a:xfrm>
            <a:off x="6492240" y="1874520"/>
            <a:ext cx="4937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251460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0" y="25146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 (PK, AUTO_INCREMENT)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2843784"/>
            <a:ext cx="5303520" cy="347472"/>
          </a:xfrm>
          <a:prstGeom prst="rect">
            <a:avLst/>
          </a:prstGeom>
          <a:solidFill>
            <a:srgbClr val="F4F8FA"/>
          </a:solidFill>
        </p:spPr>
      </p:sp>
      <p:sp>
        <p:nvSpPr>
          <p:cNvPr id="36" name="Text 34"/>
          <p:cNvSpPr/>
          <p:nvPr/>
        </p:nvSpPr>
        <p:spPr>
          <a:xfrm>
            <a:off x="6492240" y="286207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teacher_code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0" y="286207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VARCHAR(20) UNIQUE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20954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29600" y="320954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VARCHAR(100)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538728"/>
            <a:ext cx="5303520" cy="347472"/>
          </a:xfrm>
          <a:prstGeom prst="rect">
            <a:avLst/>
          </a:prstGeom>
          <a:solidFill>
            <a:srgbClr val="F4F8FA"/>
          </a:solidFill>
        </p:spPr>
      </p:sp>
      <p:sp>
        <p:nvSpPr>
          <p:cNvPr id="41" name="Text 39"/>
          <p:cNvSpPr/>
          <p:nvPr/>
        </p:nvSpPr>
        <p:spPr>
          <a:xfrm>
            <a:off x="6492240" y="3557016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password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229600" y="355701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 — SHA-256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390448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manage_class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229600" y="3904488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VARCHAR(50) — lớp quản lý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32320" y="443484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 hệ dữ liệu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Shape 29"/>
          <p:cNvSpPr/>
          <p:nvPr/>
        </p:nvSpPr>
        <p:spPr>
          <a:xfrm>
            <a:off x="6263640" y="4448175"/>
            <a:ext cx="5394960" cy="502920"/>
          </a:xfrm>
          <a:prstGeom prst="rect">
            <a:avLst/>
          </a:prstGeom>
          <a:solidFill>
            <a:srgbClr val="1C7293"/>
          </a:solidFill>
        </p:spPr>
        <p:txBody>
          <a:bodyPr/>
          <a:lstStyle/>
          <a:p>
            <a:r>
              <a:rPr lang="en-US" altLang="en-US" sz="1500" b="1" dirty="0">
                <a:solidFill>
                  <a:schemeClr val="bg1"/>
                </a:solidFill>
              </a:rPr>
              <a:t>Quan </a:t>
            </a:r>
            <a:r>
              <a:rPr lang="en-US" altLang="en-US" sz="1500" b="1" dirty="0" err="1">
                <a:solidFill>
                  <a:schemeClr val="bg1"/>
                </a:solidFill>
              </a:rPr>
              <a:t>hệ</a:t>
            </a:r>
            <a:r>
              <a:rPr lang="en-US" altLang="en-US" sz="1500" b="1" dirty="0">
                <a:solidFill>
                  <a:schemeClr val="bg1"/>
                </a:solidFill>
              </a:rPr>
              <a:t> </a:t>
            </a:r>
            <a:r>
              <a:rPr lang="en-US" altLang="en-US" sz="1500" b="1" dirty="0" err="1">
                <a:solidFill>
                  <a:schemeClr val="bg1"/>
                </a:solidFill>
              </a:rPr>
              <a:t>dữ</a:t>
            </a:r>
            <a:r>
              <a:rPr lang="en-US" altLang="en-US" sz="1500" b="1" dirty="0">
                <a:solidFill>
                  <a:schemeClr val="bg1"/>
                </a:solidFill>
              </a:rPr>
              <a:t> </a:t>
            </a:r>
            <a:r>
              <a:rPr lang="en-US" altLang="en-US" sz="1500" b="1" dirty="0" err="1">
                <a:solidFill>
                  <a:schemeClr val="bg1"/>
                </a:solidFill>
              </a:rPr>
              <a:t>liệu</a:t>
            </a:r>
            <a:r>
              <a:rPr lang="en-US" altLang="en-US" sz="1500" b="1">
                <a:solidFill>
                  <a:schemeClr val="bg1"/>
                </a:solidFill>
              </a:rPr>
              <a:t> </a:t>
            </a:r>
            <a:endParaRPr lang="" altLang="en-US" sz="1500" b="1">
              <a:solidFill>
                <a:schemeClr val="bg1"/>
              </a:solidFill>
            </a:endParaRPr>
          </a:p>
        </p:txBody>
      </p:sp>
      <p:sp>
        <p:nvSpPr>
          <p:cNvPr id="53" name="Text 37"/>
          <p:cNvSpPr/>
          <p:nvPr/>
        </p:nvSpPr>
        <p:spPr>
          <a:xfrm>
            <a:off x="6362700" y="5050790"/>
            <a:ext cx="5235575" cy="13500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n-US" sz="1200" dirty="0"/>
              <a:t>Bảng students (cột class_name) và bảng teachers (cột manage_class) </a:t>
            </a:r>
            <a:r>
              <a:rPr lang="" altLang="en-US" sz="1200" dirty="0"/>
              <a:t>đ</a:t>
            </a:r>
            <a:r>
              <a:rPr lang="en-US" altLang="en-US" sz="1200" dirty="0"/>
              <a:t>ều liên kết khóa ngoại (Foreign Key) tới cột class_code của bảng classes </a:t>
            </a:r>
            <a:r>
              <a:rPr lang="" altLang="en-US" sz="1200" dirty="0"/>
              <a:t>đ</a:t>
            </a:r>
            <a:r>
              <a:rPr lang="en-US" altLang="en-US" sz="1200" dirty="0"/>
              <a:t>ể </a:t>
            </a:r>
            <a:r>
              <a:rPr lang="" altLang="en-US" sz="1200" dirty="0"/>
              <a:t>đ</a:t>
            </a:r>
            <a:r>
              <a:rPr lang="en-US" altLang="en-US" sz="1200" dirty="0"/>
              <a:t>ảm bảo tính toàn vẹn dữ liệu.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 giao diện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19272" cy="3566160"/>
          </a:xfrm>
          <a:prstGeom prst="roundRect">
            <a:avLst>
              <a:gd name="adj" fmla="val 2204"/>
            </a:avLst>
          </a:prstGeom>
          <a:solidFill>
            <a:srgbClr val="F4F8FA"/>
          </a:solidFill>
          <a:ln w="12700">
            <a:solidFill>
              <a:srgbClr val="D7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2953512" cy="2286000"/>
          </a:xfrm>
          <a:prstGeom prst="roundRect">
            <a:avLst>
              <a:gd name="adj" fmla="val 2000"/>
            </a:avLst>
          </a:prstGeom>
          <a:solidFill>
            <a:srgbClr val="E3ECF1"/>
          </a:solidFill>
          <a:ln w="12700">
            <a:solidFill>
              <a:srgbClr val="C9D6D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33956" y="292608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933956" y="2926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9535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Ảnh chụp màn hình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526280"/>
            <a:ext cx="28620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Trang đăng nhập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892040"/>
            <a:ext cx="286207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login.jsp — nhập tài khoản/mật khẩu, phân biệt Giảng viên &amp; Sinh viên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42232" y="1920240"/>
            <a:ext cx="3319272" cy="3566160"/>
          </a:xfrm>
          <a:prstGeom prst="roundRect">
            <a:avLst>
              <a:gd name="adj" fmla="val 2204"/>
            </a:avLst>
          </a:prstGeom>
          <a:solidFill>
            <a:srgbClr val="F4F8FA"/>
          </a:solidFill>
          <a:ln w="12700">
            <a:solidFill>
              <a:srgbClr val="D7DF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2103120"/>
            <a:ext cx="2953512" cy="2286000"/>
          </a:xfrm>
          <a:prstGeom prst="roundRect">
            <a:avLst>
              <a:gd name="adj" fmla="val 2000"/>
            </a:avLst>
          </a:prstGeom>
          <a:solidFill>
            <a:srgbClr val="E3ECF1"/>
          </a:solidFill>
          <a:ln w="12700">
            <a:solidFill>
              <a:srgbClr val="C9D6D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527548" y="292608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5527548" y="2926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🖼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25112" y="3749040"/>
            <a:ext cx="29535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Ảnh chụp màn hình 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0832" y="4526280"/>
            <a:ext cx="28620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Danh sách sinh viên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0832" y="4892040"/>
            <a:ext cx="286207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student-list.jsp — bảng dữ liệu, bộ lọc theo chuyên ngành, nút Sửa/Xóa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35824" y="1920240"/>
            <a:ext cx="3319272" cy="3566160"/>
          </a:xfrm>
          <a:prstGeom prst="roundRect">
            <a:avLst>
              <a:gd name="adj" fmla="val 2204"/>
            </a:avLst>
          </a:prstGeom>
          <a:solidFill>
            <a:srgbClr val="F4F8FA"/>
          </a:solidFill>
          <a:ln w="12700">
            <a:solidFill>
              <a:srgbClr val="D7DF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8704" y="2103120"/>
            <a:ext cx="2953512" cy="2286000"/>
          </a:xfrm>
          <a:prstGeom prst="roundRect">
            <a:avLst>
              <a:gd name="adj" fmla="val 2000"/>
            </a:avLst>
          </a:prstGeom>
          <a:solidFill>
            <a:srgbClr val="E3ECF1"/>
          </a:solidFill>
          <a:ln w="12700">
            <a:solidFill>
              <a:srgbClr val="C9D6D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121140" y="292608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9121140" y="2926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🖼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18704" y="3749040"/>
            <a:ext cx="29535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Ảnh chụp màn hình 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64424" y="4526280"/>
            <a:ext cx="28620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Thêm / Sửa sinh viên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64424" y="4892040"/>
            <a:ext cx="286207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student-form.jsp — biểu mẫu nhập MSSV, họ tên, email, ngày sinh, học phí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pic>
        <p:nvPicPr>
          <p:cNvPr id="28" name="Picture 27" descr="1783859504616_2769429083869709207_2769429083869709207_786703e03b070f51bb62c25c1b7244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45" y="1920240"/>
            <a:ext cx="3337560" cy="2893060"/>
          </a:xfrm>
          <a:prstGeom prst="rect">
            <a:avLst/>
          </a:prstGeom>
        </p:spPr>
      </p:pic>
      <p:pic>
        <p:nvPicPr>
          <p:cNvPr id="29" name="Picture 28" descr="1783859510784_2769429083869709207_2769429083869709207_1310c0c0503bed721d5b59acb318c5a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0" y="1924050"/>
            <a:ext cx="3407410" cy="2602230"/>
          </a:xfrm>
          <a:prstGeom prst="rect">
            <a:avLst/>
          </a:prstGeom>
        </p:spPr>
      </p:pic>
      <p:pic>
        <p:nvPicPr>
          <p:cNvPr id="32" name="Picture 31" descr="1783859516785_2769429083869709207_2769429083869709207_86e6a6c1d7e3b428a825e5f6fb5d1fe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105" y="1898650"/>
            <a:ext cx="3319145" cy="24803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Phân công công việc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600200"/>
          <a:ext cx="10515600" cy="416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Thành viên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Nhiệm vụ đảm nhận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độ hoàn thành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Hồ </a:t>
                      </a:r>
                      <a:r>
                        <a:rPr lang="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Đă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 Khoa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Setup &amp; Báo cáo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Nguyễn Duy Nhân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Code UI/UX &amp; Giao diện JSP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Chống A Bối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Code chức n</a:t>
                      </a:r>
                      <a:r>
                        <a:rPr lang="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ă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 Admin (CRUD)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 Hoài Khiêm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Code chức n</a:t>
                      </a:r>
                      <a:r>
                        <a:rPr lang="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ă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 Sinh viên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Trần Đức Dương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Phân tích &amp; Viết script CSDL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Vũ Viết Đạt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Phân Tích Làm Slide &amp; Quay video Demo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00200"/>
            <a:ext cx="10515600" cy="59436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6" name="Text 3"/>
          <p:cNvSpPr/>
          <p:nvPr/>
        </p:nvSpPr>
        <p:spPr>
          <a:xfrm>
            <a:off x="777240" y="1600200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Thành viên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520440" y="1600200"/>
            <a:ext cx="5760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Nhiệm vụ đảm nhận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281160" y="160020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Mức độ hoàn thành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Kết quả đạt được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548640" y="1874520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834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Servlet Controller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(Login, Student, Logout)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7373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</p:spPr>
      </p:sp>
      <p:sp>
        <p:nvSpPr>
          <p:cNvPr id="9" name="Text 7"/>
          <p:cNvSpPr/>
          <p:nvPr/>
        </p:nvSpPr>
        <p:spPr>
          <a:xfrm>
            <a:off x="4160520" y="1874520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343400" y="2788920"/>
            <a:ext cx="2834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Bảng CSDL MySQL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(students, teachers)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17373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7772400" y="1874520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5+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7955280" y="2788920"/>
            <a:ext cx="2834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Chức năng CRUD &amp; lọc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hoàn chỉnh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721608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Hoàn thiện quy trình đăng nhập – phân quyền Giảng viên/Sinh viên bằng Session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548640" y="431596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288536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thành công module CRUD sinh viên vận hành ổn định trên nền JSP/Servlet/JDBC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82896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548640" y="488289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855464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Áp dụng đúng mô hình MVC, tách bạch rõ Model – DAO – Controller – View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449824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4" name="Text 22"/>
          <p:cNvSpPr/>
          <p:nvPr/>
        </p:nvSpPr>
        <p:spPr>
          <a:xfrm>
            <a:off x="548640" y="54498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22392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Bảo mật mật khẩu người dùng bằng thuật toán băm SHA-256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Hạn chế &amp; Hướng phát triển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BEFEF"/>
          </a:solidFill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B5484A"/>
          </a:solidFill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4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4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43434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Thông tin kết nối CSDL (URL, user, password) đang cấu hình cứng trong DBConnection.java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191256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4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91256"/>
            <a:ext cx="43434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Giao diện còn đơn giản (login.jsp dùng bảng HTML thuần), chưa tối ưu responsive/thẩm mỹ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4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867912"/>
            <a:ext cx="43434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mã hóa/giới hạn phân quyền chặt chẽ theo lớp cho vai trò Sinh viên khi xem danh sách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544568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4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544568"/>
            <a:ext cx="43434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có chức năng đổi mật khẩu, quên mật khẩu, phân trang danh sách sinh viên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221224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4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5221224"/>
            <a:ext cx="43434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Còn một số câu lệnh in log (System.out.println) dùng để debug, chưa dọn dẹp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691640"/>
            <a:ext cx="5806440" cy="4206240"/>
          </a:xfrm>
          <a:prstGeom prst="roundRect">
            <a:avLst>
              <a:gd name="adj" fmla="val 2174"/>
            </a:avLst>
          </a:prstGeom>
          <a:solidFill>
            <a:srgbClr val="EAF6F1"/>
          </a:solidFill>
        </p:spPr>
      </p:sp>
      <p:sp>
        <p:nvSpPr>
          <p:cNvPr id="19" name="Shape 17"/>
          <p:cNvSpPr/>
          <p:nvPr/>
        </p:nvSpPr>
        <p:spPr>
          <a:xfrm>
            <a:off x="6172200" y="1965960"/>
            <a:ext cx="457200" cy="457200"/>
          </a:xfrm>
          <a:prstGeom prst="ellipse">
            <a:avLst/>
          </a:prstGeom>
          <a:solidFill>
            <a:srgbClr val="1D8A5E"/>
          </a:solidFill>
        </p:spPr>
      </p:sp>
      <p:sp>
        <p:nvSpPr>
          <p:cNvPr id="20" name="Text 18"/>
          <p:cNvSpPr/>
          <p:nvPr/>
        </p:nvSpPr>
        <p:spPr>
          <a:xfrm>
            <a:off x="6172200" y="1965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20116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8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25146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8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514600"/>
            <a:ext cx="507492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Đưa thông tin kết nối CSDL ra file cấu hình (properties) hoặc biến môi trường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3081528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8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081528"/>
            <a:ext cx="507492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Nâng cấp giao diện với Bootstrap/CSS hiện đại, responsive trên di động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0" y="3648456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8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3648456"/>
            <a:ext cx="507492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Bổ sung chức năng đổi/quên mật khẩu, phân trang và tìm kiếm nâng cao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17920" y="4215384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8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4215384"/>
            <a:ext cx="507492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Giới hạn Sinh viên chỉ xem thông tin của chính mình, Giảng viên chỉ thấy lớp mình quản lý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17920" y="4782312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8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4782312"/>
            <a:ext cx="507492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Triển khai website lên server thật (Tomcat + Hosting) để sử dụng thực tế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17920" y="534924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8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5349240"/>
            <a:ext cx="507492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Viết thêm Unit Test cho tầng DAO nhằm đảm bảo chất lượng mã nguồn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Đồ án cuối kỳ – Web Java, JSP, Servlet, JDBC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CẢM ƠN THẦY/CÔ VÀ CÁC BẠN ĐÃ LẮNG NGHE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Quản Lý Sinh Viên  —  Java · JSP · Servlet · JDBC · MySQL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Rất mong nhận được góp ý từ Thầy/Cô và các bạn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Trang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1558</Words>
  <Application>Microsoft Office PowerPoint</Application>
  <PresentationFormat>Widescreen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2305CT0517 - Hồ Đăng Khoa</cp:lastModifiedBy>
  <cp:revision>6</cp:revision>
  <dcterms:created xsi:type="dcterms:W3CDTF">2026-07-11T03:12:00Z</dcterms:created>
  <dcterms:modified xsi:type="dcterms:W3CDTF">2026-07-12T13:37:30Z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1033-12.1.0.27455</vt:lpwstr>
  </property>
  <property fmtid="{D5CDD505-2E9C-101B-9397-08002B2CF9AE}" pid="3" name="ICV">
    <vt:lpwstr>9C159C0338EC4B76BFFFCA750FE975A7_13</vt:lpwstr>
  </property>
</Properties>
</file>